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600" b="1">
                <a:solidFill>
                  <a:srgbClr val="17324D"/>
                </a:solidFill>
                <a:latin typeface="Aptos"/>
              </a:defRPr>
            </a:pPr>
            <a:r>
              <a:t>VehicleGPT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2471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2A6F97"/>
                </a:solidFill>
                <a:latin typeface="Aptos"/>
              </a:defRPr>
            </a:pPr>
            <a:r>
              <a:t>Evidence-grounded vehicle intelligence — offline, historical, resource-aware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188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000" b="1">
                <a:solidFill>
                  <a:srgbClr val="2A6F97"/>
                </a:solidFill>
                <a:latin typeface="Aptos Display"/>
              </a:defRPr>
            </a:pPr>
            <a:r>
              <a:t>Vehicle data</a:t>
            </a:r>
          </a:p>
          <a:p>
            <a:pPr>
              <a:spcBef>
                <a:spcPts val="500"/>
              </a:spcBef>
              <a:defRPr sz="800">
                <a:solidFill>
                  <a:srgbClr val="17324D"/>
                </a:solidFill>
                <a:latin typeface="Aptos"/>
              </a:defRPr>
            </a:pPr>
            <a:r>
              <a:t>Simulator, CAN,</a:t>
            </a:r>
            <a:br/>
            <a:r>
              <a:t>SOME/IP, HAL,</a:t>
            </a:r>
            <a:br/>
            <a:r>
              <a:t>QNX, ADAS, logs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2304288"/>
            <a:ext cx="283464" cy="0"/>
          </a:xfrm>
          <a:prstGeom prst="line">
            <a:avLst/>
          </a:prstGeom>
          <a:ln w="254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20240" y="1508760"/>
            <a:ext cx="1188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000" b="1">
                <a:solidFill>
                  <a:srgbClr val="2A6F97"/>
                </a:solidFill>
                <a:latin typeface="Aptos Display"/>
              </a:defRPr>
            </a:pPr>
            <a:r>
              <a:t>Ingest + normalise</a:t>
            </a:r>
          </a:p>
          <a:p>
            <a:pPr>
              <a:spcBef>
                <a:spcPts val="500"/>
              </a:spcBef>
              <a:defRPr sz="800">
                <a:solidFill>
                  <a:srgbClr val="17324D"/>
                </a:solidFill>
                <a:latin typeface="Aptos"/>
              </a:defRPr>
            </a:pPr>
            <a:r>
              <a:t>Read-only adapters;</a:t>
            </a:r>
            <a:br/>
            <a:r>
              <a:t>time, units, quality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304288"/>
            <a:ext cx="283464" cy="0"/>
          </a:xfrm>
          <a:prstGeom prst="line">
            <a:avLst/>
          </a:prstGeom>
          <a:ln w="254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9000" y="1508760"/>
            <a:ext cx="1188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000" b="1">
                <a:solidFill>
                  <a:srgbClr val="2A6F97"/>
                </a:solidFill>
                <a:latin typeface="Aptos Display"/>
              </a:defRPr>
            </a:pPr>
            <a:r>
              <a:t>Local history</a:t>
            </a:r>
          </a:p>
          <a:p>
            <a:pPr>
              <a:spcBef>
                <a:spcPts val="500"/>
              </a:spcBef>
              <a:defRPr sz="800">
                <a:solidFill>
                  <a:srgbClr val="17324D"/>
                </a:solidFill>
                <a:latin typeface="Aptos"/>
              </a:defRPr>
            </a:pPr>
            <a:r>
              <a:t>SQLite + WAL;</a:t>
            </a:r>
            <a:br/>
            <a:r>
              <a:t>signals, events,</a:t>
            </a:r>
            <a:br/>
            <a:r>
              <a:t>weeks of history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2304288"/>
            <a:ext cx="283464" cy="0"/>
          </a:xfrm>
          <a:prstGeom prst="line">
            <a:avLst/>
          </a:prstGeom>
          <a:ln w="254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1508760"/>
            <a:ext cx="1188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000" b="1">
                <a:solidFill>
                  <a:srgbClr val="2A6F97"/>
                </a:solidFill>
                <a:latin typeface="Aptos Display"/>
              </a:defRPr>
            </a:pPr>
            <a:r>
              <a:t>Query router</a:t>
            </a:r>
          </a:p>
          <a:p>
            <a:pPr>
              <a:spcBef>
                <a:spcPts val="500"/>
              </a:spcBef>
              <a:defRPr sz="800">
                <a:solidFill>
                  <a:srgbClr val="17324D"/>
                </a:solidFill>
                <a:latin typeface="Aptos"/>
              </a:defRPr>
            </a:pPr>
            <a:r>
              <a:t>Intent + slots;</a:t>
            </a:r>
            <a:br/>
            <a:r>
              <a:t>whitelisted plans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2304288"/>
            <a:ext cx="283464" cy="0"/>
          </a:xfrm>
          <a:prstGeom prst="line">
            <a:avLst/>
          </a:prstGeom>
          <a:ln w="254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46520" y="1508760"/>
            <a:ext cx="1188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000" b="1">
                <a:solidFill>
                  <a:srgbClr val="2A6F97"/>
                </a:solidFill>
                <a:latin typeface="Aptos Display"/>
              </a:defRPr>
            </a:pPr>
            <a:r>
              <a:t>SQL + analytics</a:t>
            </a:r>
          </a:p>
          <a:p>
            <a:pPr>
              <a:spcBef>
                <a:spcPts val="500"/>
              </a:spcBef>
              <a:defRPr sz="800">
                <a:solidFill>
                  <a:srgbClr val="17324D"/>
                </a:solidFill>
                <a:latin typeface="Aptos"/>
              </a:defRPr>
            </a:pPr>
            <a:r>
              <a:t>Exact values,</a:t>
            </a:r>
            <a:br/>
            <a:r>
              <a:t>trends, timelines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2304288"/>
            <a:ext cx="283464" cy="0"/>
          </a:xfrm>
          <a:prstGeom prst="line">
            <a:avLst/>
          </a:prstGeom>
          <a:ln w="254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55279" y="1508760"/>
            <a:ext cx="1188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000" b="1">
                <a:solidFill>
                  <a:srgbClr val="2A6F97"/>
                </a:solidFill>
                <a:latin typeface="Aptos Display"/>
              </a:defRPr>
            </a:pPr>
            <a:r>
              <a:t>Evidence package</a:t>
            </a:r>
          </a:p>
          <a:p>
            <a:pPr>
              <a:spcBef>
                <a:spcPts val="500"/>
              </a:spcBef>
              <a:defRPr sz="800">
                <a:solidFill>
                  <a:srgbClr val="17324D"/>
                </a:solidFill>
                <a:latin typeface="Aptos"/>
              </a:defRPr>
            </a:pPr>
            <a:r>
              <a:t>Values, units,</a:t>
            </a:r>
            <a:br/>
            <a:r>
              <a:t>source IDs, gaps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0" y="2304288"/>
            <a:ext cx="283464" cy="0"/>
          </a:xfrm>
          <a:prstGeom prst="line">
            <a:avLst/>
          </a:prstGeom>
          <a:ln w="254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64040" y="1508760"/>
            <a:ext cx="1188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000" b="1">
                <a:solidFill>
                  <a:srgbClr val="2A6F97"/>
                </a:solidFill>
                <a:latin typeface="Aptos Display"/>
              </a:defRPr>
            </a:pPr>
            <a:r>
              <a:t>Local SLM/ LLM</a:t>
            </a:r>
          </a:p>
          <a:p>
            <a:pPr>
              <a:spcBef>
                <a:spcPts val="500"/>
              </a:spcBef>
              <a:defRPr sz="800">
                <a:solidFill>
                  <a:srgbClr val="17324D"/>
                </a:solidFill>
                <a:latin typeface="Aptos"/>
              </a:defRPr>
            </a:pPr>
            <a:r>
              <a:t>Quantized model;</a:t>
            </a:r>
            <a:br/>
            <a:r>
              <a:t>local inference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52760" y="2304288"/>
            <a:ext cx="283464" cy="0"/>
          </a:xfrm>
          <a:prstGeom prst="line">
            <a:avLst/>
          </a:prstGeom>
          <a:ln w="25400">
            <a:solidFill>
              <a:srgbClr val="2A6F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972800" y="1508760"/>
            <a:ext cx="11887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000" b="1">
                <a:solidFill>
                  <a:srgbClr val="2A6F97"/>
                </a:solidFill>
                <a:latin typeface="Aptos Display"/>
              </a:defRPr>
            </a:pPr>
            <a:r>
              <a:t>Validated answer</a:t>
            </a:r>
          </a:p>
          <a:p>
            <a:pPr>
              <a:spcBef>
                <a:spcPts val="500"/>
              </a:spcBef>
              <a:defRPr sz="800">
                <a:solidFill>
                  <a:srgbClr val="17324D"/>
                </a:solidFill>
                <a:latin typeface="Aptos"/>
              </a:defRPr>
            </a:pPr>
            <a:r>
              <a:t>Numbers checked;</a:t>
            </a:r>
            <a:br/>
            <a:r>
              <a:t>source-linked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3429000" cy="1143000"/>
          </a:xfrm>
          <a:prstGeom prst="roundRect">
            <a:avLst/>
          </a:prstGeom>
          <a:solidFill>
            <a:srgbClr val="DCE8F5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200" b="1">
                <a:solidFill>
                  <a:srgbClr val="2A6F97"/>
                </a:solidFill>
                <a:latin typeface="Aptos Display"/>
              </a:defRPr>
            </a:pPr>
            <a:r>
              <a:t>1  Evidence before language</a:t>
            </a:r>
          </a:p>
          <a:p>
            <a:pPr>
              <a:spcBef>
                <a:spcPts val="500"/>
              </a:spcBef>
              <a:defRPr sz="900">
                <a:solidFill>
                  <a:srgbClr val="17324D"/>
                </a:solidFill>
                <a:latin typeface="Aptos"/>
              </a:defRPr>
            </a:pPr>
            <a:r>
              <a:t>SQL/analytics compute facts; the SLM explains the retrieved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03320"/>
            <a:ext cx="3429000" cy="1143000"/>
          </a:xfrm>
          <a:prstGeom prst="roundRect">
            <a:avLst/>
          </a:prstGeom>
          <a:solidFill>
            <a:srgbClr val="DCE8F5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200" b="1">
                <a:solidFill>
                  <a:srgbClr val="2A6F97"/>
                </a:solidFill>
                <a:latin typeface="Aptos Display"/>
              </a:defRPr>
            </a:pPr>
            <a:r>
              <a:t>2  Edge-first by design</a:t>
            </a:r>
          </a:p>
          <a:p>
            <a:pPr>
              <a:spcBef>
                <a:spcPts val="500"/>
              </a:spcBef>
              <a:defRPr sz="900">
                <a:solidFill>
                  <a:srgbClr val="17324D"/>
                </a:solidFill>
                <a:latin typeface="Aptos"/>
              </a:defRPr>
            </a:pPr>
            <a:r>
              <a:t>No cloud at query time; short context, quantized model, fast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703320"/>
            <a:ext cx="3429000" cy="1143000"/>
          </a:xfrm>
          <a:prstGeom prst="roundRect">
            <a:avLst/>
          </a:prstGeom>
          <a:solidFill>
            <a:srgbClr val="FFF1F0"/>
          </a:solidFill>
          <a:ln w="1905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36576"/>
          <a:lstStyle/>
          <a:p>
            <a:pPr algn="ctr">
              <a:defRPr sz="1200" b="1">
                <a:solidFill>
                  <a:srgbClr val="B42318"/>
                </a:solidFill>
                <a:latin typeface="Aptos Display"/>
              </a:defRPr>
            </a:pPr>
            <a:r>
              <a:t>3  Safety boundary</a:t>
            </a:r>
          </a:p>
          <a:p>
            <a:pPr>
              <a:spcBef>
                <a:spcPts val="500"/>
              </a:spcBef>
              <a:defRPr sz="900">
                <a:solidFill>
                  <a:srgbClr val="17324D"/>
                </a:solidFill>
                <a:latin typeface="Aptos"/>
              </a:defRPr>
            </a:pPr>
            <a:r>
              <a:t>Read-only information layer; no actuator-write path or control authority.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57800"/>
            <a:ext cx="11201400" cy="841248"/>
          </a:xfrm>
          <a:prstGeom prst="roundRect">
            <a:avLst/>
          </a:prstGeom>
          <a:solidFill>
            <a:srgbClr val="E4F4EC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D6A4F"/>
                </a:solidFill>
                <a:latin typeface="Aptos"/>
              </a:defRPr>
            </a:pPr>
            <a:r>
              <a:t>OFFICIAL CONSTRAINTS  |  No cloud dependency  •  ~2 GB RAM / ~2 ARM cores  •  &lt;2 s common-query target  •  several weeks searchable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36208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800" b="0">
                <a:solidFill>
                  <a:srgbClr val="526173"/>
                </a:solidFill>
                <a:latin typeface="Aptos"/>
              </a:defRPr>
            </a:pPr>
            <a:r>
              <a:t>Proposal only: memory, latency, model quality and protocol integration must be measured; no benchmark results are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VehicleGPT Edge — One-slide project proposal</dc:title>
  <dc:subject>Case Study 5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