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6"/>
  </p:notesMasterIdLst>
  <p:sldIdLst>
    <p:sldId id="260" r:id="rId4"/>
    <p:sldId id="262" r:id="rId5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03228-4751-4F53-A7F7-9080AFB031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2CE-49C7-403A-A106-CE2A83A98FA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30D68-FF19-4C40-B203-FF6228C5C20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B0BD9-A53D-48D3-BB72-10255F89A56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pic>
        <p:nvPicPr>
          <p:cNvPr id="14" name="Content Placeholder 6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4504438" y="723899"/>
            <a:ext cx="3183124" cy="1028701"/>
          </a:xfrm>
          <a:prstGeom prst="rect">
            <a:avLst/>
          </a:prstGeom>
        </p:spPr>
      </p:pic>
      <p:sp>
        <p:nvSpPr>
          <p:cNvPr id="16" name="Title 1"/>
          <p:cNvSpPr txBox="1"/>
          <p:nvPr/>
        </p:nvSpPr>
        <p:spPr>
          <a:xfrm>
            <a:off x="4623106" y="1917655"/>
            <a:ext cx="2945788" cy="6060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Study No. 5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ctrTitle"/>
          </p:nvPr>
        </p:nvSpPr>
        <p:spPr>
          <a:xfrm>
            <a:off x="2980112" y="2912065"/>
            <a:ext cx="6231775" cy="760059"/>
          </a:xfrm>
        </p:spPr>
        <p:txBody>
          <a:bodyPr>
            <a:no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Details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Subtitle 2"/>
          <p:cNvSpPr>
            <a:spLocks noGrp="1"/>
          </p:cNvSpPr>
          <p:nvPr>
            <p:ph type="subTitle" idx="1"/>
          </p:nvPr>
        </p:nvSpPr>
        <p:spPr>
          <a:xfrm>
            <a:off x="2981627" y="3652835"/>
            <a:ext cx="6231775" cy="1128427"/>
          </a:xfrm>
        </p:spPr>
        <p:txBody>
          <a:bodyPr>
            <a:noAutofit/>
          </a:bodyPr>
          <a:lstStyle/>
          <a:p>
            <a:pPr algn="ctr"/>
            <a:r>
              <a:rPr lang="en-IN" sz="2000" b="1" dirty="0">
                <a:solidFill>
                  <a:srgbClr val="0F2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VehicleGPT Edge - On-Device SLM/LLM Vehicle Assistant</a:t>
            </a:r>
            <a:endParaRPr lang="en-IN" sz="2000" b="1" dirty="0">
              <a:solidFill>
                <a:srgbClr val="0F28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5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Name: &lt;enter team name&gt;</a:t>
            </a:r>
            <a:endParaRPr lang="en-IN" sz="1500" dirty="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5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Members: &lt;names and roll numbers&gt;</a:t>
            </a:r>
            <a:endParaRPr lang="en-IN" sz="1500" dirty="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5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College: &lt;college name&gt;   |   Email: &lt;contact&gt;</a:t>
            </a:r>
            <a:endParaRPr lang="en-IN" sz="1500" dirty="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237" y="8412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37" y="1097280"/>
            <a:ext cx="11183112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2A4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Software-defined vehicles produce answers no one can ask for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3237" y="1755648"/>
            <a:ext cx="868680" cy="50292"/>
          </a:xfrm>
          <a:prstGeom prst="rect">
            <a:avLst/>
          </a:prstGeom>
          <a:solidFill>
            <a:srgbClr val="00A6E0"/>
          </a:solidFill>
        </p:spPr>
      </p:sp>
      <p:sp>
        <p:nvSpPr>
          <p:cNvPr id="5" name="Shape 3"/>
          <p:cNvSpPr/>
          <p:nvPr/>
        </p:nvSpPr>
        <p:spPr>
          <a:xfrm>
            <a:off x="503237" y="1920240"/>
            <a:ext cx="6400800" cy="3108960"/>
          </a:xfrm>
          <a:prstGeom prst="roundRect">
            <a:avLst>
              <a:gd name="adj" fmla="val 2059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3237" y="1920240"/>
            <a:ext cx="64008" cy="3108960"/>
          </a:xfrm>
          <a:prstGeom prst="rect">
            <a:avLst/>
          </a:prstGeom>
          <a:solidFill>
            <a:srgbClr val="00A6E0"/>
          </a:solidFill>
        </p:spPr>
      </p:sp>
      <p:sp>
        <p:nvSpPr>
          <p:cNvPr id="7" name="Text 5"/>
          <p:cNvSpPr/>
          <p:nvPr/>
        </p:nvSpPr>
        <p:spPr>
          <a:xfrm>
            <a:off x="704405" y="2066544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 questions owners and service engineers ask today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829" y="2395728"/>
            <a:ext cx="6126480" cy="251460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“Why has my driving range reduced over the last two weeks?”</a:t>
            </a:r>
            <a:endParaRPr lang="en-US" sz="1250" dirty="0"/>
          </a:p>
          <a:p>
            <a:pPr marL="342900" indent="-3429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“When did fuel efficiency show the largest drop?”</a:t>
            </a:r>
            <a:endParaRPr lang="en-US" sz="1250" dirty="0"/>
          </a:p>
          <a:p>
            <a:pPr marL="342900" indent="-3429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“Show all ADAS disengagement events from yesterday.”</a:t>
            </a:r>
            <a:endParaRPr lang="en-US" sz="1250" dirty="0"/>
          </a:p>
          <a:p>
            <a:pPr marL="342900" indent="-3429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“What happened before the battery overheating warning?”</a:t>
            </a:r>
            <a:endParaRPr lang="en-US" sz="1250" dirty="0"/>
          </a:p>
          <a:p>
            <a:pPr marL="342900" indent="-3429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“Compare energy consumption between city and highway driving.”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3237" y="5138928"/>
            <a:ext cx="6400800" cy="603504"/>
          </a:xfrm>
          <a:prstGeom prst="roundRect">
            <a:avLst>
              <a:gd name="adj" fmla="val 10606"/>
            </a:avLst>
          </a:prstGeom>
          <a:solidFill>
            <a:srgbClr val="EFF7FD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397" y="5138928"/>
            <a:ext cx="61264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at the source:  </a:t>
            </a:r>
            <a:r>
              <a:rPr lang="en-US" sz="10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CAN / CAN-FD  ·  SOME/IP  ·  Android Vehicle HAL  ·  QNX services &amp; logs  ·  ADAS  ·  camera feeds  ·  diagnostic logs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3237" y="5815584"/>
            <a:ext cx="640080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397" y="5815584"/>
            <a:ext cx="61264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Today: </a:t>
            </a:r>
            <a:r>
              <a:rPr lang="en-US" sz="10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dealer visit, dongle + laptop, or a cloud portal → days.   </a:t>
            </a:r>
            <a:r>
              <a:rPr lang="en-US" sz="1050" b="1" dirty="0">
                <a:solidFill>
                  <a:srgbClr val="1285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Target: </a:t>
            </a:r>
            <a:r>
              <a:rPr lang="en-US" sz="10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same answer, in-vehicle, in under 2 seconds.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78357" y="1920240"/>
            <a:ext cx="4507992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8357" y="1920240"/>
            <a:ext cx="4507992" cy="384048"/>
          </a:xfrm>
          <a:prstGeom prst="rect">
            <a:avLst/>
          </a:prstGeom>
          <a:solidFill>
            <a:srgbClr val="0F2A43"/>
          </a:solidFill>
        </p:spPr>
      </p:sp>
      <p:sp>
        <p:nvSpPr>
          <p:cNvPr id="15" name="Text 13"/>
          <p:cNvSpPr/>
          <p:nvPr/>
        </p:nvSpPr>
        <p:spPr>
          <a:xfrm>
            <a:off x="7178357" y="1920240"/>
            <a:ext cx="45079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HARD CONSTRAINTS FROM THE CASE BRIEF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42949" y="24688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C22B"/>
          </a:solidFill>
        </p:spPr>
      </p:sp>
      <p:sp>
        <p:nvSpPr>
          <p:cNvPr id="17" name="Text 15"/>
          <p:cNvSpPr/>
          <p:nvPr/>
        </p:nvSpPr>
        <p:spPr>
          <a:xfrm>
            <a:off x="7589837" y="2386584"/>
            <a:ext cx="39593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cloud dependency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837" y="2670048"/>
            <a:ext cx="394106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local-only inference, storage and search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42949" y="325526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C22B"/>
          </a:solidFill>
        </p:spPr>
      </p:sp>
      <p:sp>
        <p:nvSpPr>
          <p:cNvPr id="20" name="Text 18"/>
          <p:cNvSpPr/>
          <p:nvPr/>
        </p:nvSpPr>
        <p:spPr>
          <a:xfrm>
            <a:off x="7589837" y="3172968"/>
            <a:ext cx="39593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~2 GB RAM, ~2 ARM cores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837" y="3456432"/>
            <a:ext cx="394106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embedded-class hardware (Pi 4/5, automotive ARM, QEMU/Graviton)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42949" y="40416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C22B"/>
          </a:solidFill>
        </p:spPr>
      </p:sp>
      <p:sp>
        <p:nvSpPr>
          <p:cNvPr id="23" name="Text 21"/>
          <p:cNvSpPr/>
          <p:nvPr/>
        </p:nvSpPr>
        <p:spPr>
          <a:xfrm>
            <a:off x="7589837" y="3959352"/>
            <a:ext cx="39593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Response &lt; 2 seconds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837" y="4242816"/>
            <a:ext cx="394106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common natural-language queries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42949" y="48280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C22B"/>
          </a:solidFill>
        </p:spPr>
      </p:sp>
      <p:sp>
        <p:nvSpPr>
          <p:cNvPr id="26" name="Text 24"/>
          <p:cNvSpPr/>
          <p:nvPr/>
        </p:nvSpPr>
        <p:spPr>
          <a:xfrm>
            <a:off x="7589837" y="4745736"/>
            <a:ext cx="39593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Weeks of history, searchable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9837" y="5029200"/>
            <a:ext cx="394106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 least several weeks retained on-device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42949" y="56144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C22B"/>
          </a:solidFill>
        </p:spPr>
      </p:sp>
      <p:sp>
        <p:nvSpPr>
          <p:cNvPr id="29" name="Text 27"/>
          <p:cNvSpPr/>
          <p:nvPr/>
        </p:nvSpPr>
        <p:spPr>
          <a:xfrm>
            <a:off x="7589837" y="5532120"/>
            <a:ext cx="39593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Safety isolation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89837" y="5815584"/>
            <a:ext cx="394106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safety-critical functions stay outside the AI system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3237" y="6528816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TELIPORT Season 4  |  Case Study 5 - Natural Language Vehicle Information (VehicleGPT)  |  Team: &lt;team name&gt;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677" y="6528816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/ 10</a:t>
            </a:r>
            <a:endParaRPr lang="en-US" sz="900" dirty="0"/>
          </a:p>
        </p:txBody>
      </p:sp>
      <p:pic>
        <p:nvPicPr>
          <p:cNvPr id="9001" name="TELIPORT Logo"/>
          <p:cNvPicPr>
            <a:picLocks noChangeAspect="1"/>
          </p:cNvPicPr>
          <p:nvPr/>
        </p:nvPicPr>
        <p:blipFill>
          <a:blip r:embed="rId1" cstate="print"/>
          <a:srcRect t="33346" b="34336"/>
          <a:stretch>
            <a:fillRect/>
          </a:stretch>
        </p:blipFill>
        <p:spPr>
          <a:xfrm>
            <a:off x="317" y="14083"/>
            <a:ext cx="2361332" cy="763120"/>
          </a:xfrm>
          <a:prstGeom prst="rect">
            <a:avLst/>
          </a:prstGeom>
        </p:spPr>
      </p:pic>
      <p:pic>
        <p:nvPicPr>
          <p:cNvPr id="9002" name="TATA ELXSI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81658" y="89039"/>
            <a:ext cx="803547" cy="5673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237" y="8412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 SOLUTION · VEHICLEGPT EDGE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37" y="1097280"/>
            <a:ext cx="11183112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2A4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Evidence-first assistant: the model explains, the data proves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3237" y="1755648"/>
            <a:ext cx="868680" cy="50292"/>
          </a:xfrm>
          <a:prstGeom prst="rect">
            <a:avLst/>
          </a:prstGeom>
          <a:solidFill>
            <a:srgbClr val="00A6E0"/>
          </a:solidFill>
        </p:spPr>
      </p:sp>
      <p:sp>
        <p:nvSpPr>
          <p:cNvPr id="5" name="Shape 3"/>
          <p:cNvSpPr/>
          <p:nvPr/>
        </p:nvSpPr>
        <p:spPr>
          <a:xfrm>
            <a:off x="503237" y="1920240"/>
            <a:ext cx="3611880" cy="2880360"/>
          </a:xfrm>
          <a:prstGeom prst="roundRect">
            <a:avLst>
              <a:gd name="adj" fmla="val 2222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3237" y="1920240"/>
            <a:ext cx="3611880" cy="54864"/>
          </a:xfrm>
          <a:prstGeom prst="rect">
            <a:avLst/>
          </a:prstGeom>
          <a:solidFill>
            <a:srgbClr val="00A6E0"/>
          </a:solidFill>
        </p:spPr>
      </p:sp>
      <p:sp>
        <p:nvSpPr>
          <p:cNvPr id="7" name="Text 5"/>
          <p:cNvSpPr/>
          <p:nvPr/>
        </p:nvSpPr>
        <p:spPr>
          <a:xfrm>
            <a:off x="667829" y="2084832"/>
            <a:ext cx="32826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· SENSE &amp; STORE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1253" y="2432304"/>
            <a:ext cx="3355848" cy="228600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Normalisers for CAN/CAN-FD, SOME/IP, Android Vehicle HAL, QNX logs and ADAS events</a:t>
            </a:r>
            <a:endParaRPr lang="en-US" sz="1050" dirty="0"/>
          </a:p>
          <a:p>
            <a:pPr marL="342900" indent="-342900" algn="l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 canonical time-series + event store: weeks of history on the vehicle</a:t>
            </a:r>
            <a:endParaRPr lang="en-US" sz="1050" dirty="0"/>
          </a:p>
          <a:p>
            <a:pPr marL="342900" indent="-342900" algn="l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CARLA drives and recorded-log replay make every scenario repeatable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88853" y="1920240"/>
            <a:ext cx="3611880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88853" y="1920240"/>
            <a:ext cx="3611880" cy="54864"/>
          </a:xfrm>
          <a:prstGeom prst="rect">
            <a:avLst/>
          </a:prstGeom>
          <a:solidFill>
            <a:srgbClr val="00A6E0"/>
          </a:solidFill>
        </p:spPr>
      </p:sp>
      <p:sp>
        <p:nvSpPr>
          <p:cNvPr id="11" name="Text 9"/>
          <p:cNvSpPr/>
          <p:nvPr/>
        </p:nvSpPr>
        <p:spPr>
          <a:xfrm>
            <a:off x="4453445" y="2084832"/>
            <a:ext cx="32826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· ASK &amp; PROVE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16869" y="2432304"/>
            <a:ext cx="3355848" cy="228600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Local SLM (≤1.5B, 4-bit) interprets the question — it never invents the numbers</a:t>
            </a:r>
            <a:endParaRPr lang="en-US" sz="1050" dirty="0"/>
          </a:p>
          <a:p>
            <a:pPr marL="342900" indent="-342900" algn="l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SQL, temporal and anomaly engines build an evidence package per query</a:t>
            </a:r>
            <a:endParaRPr lang="en-US" sz="1050" dirty="0"/>
          </a:p>
          <a:p>
            <a:pPr marL="342900" indent="-342900" algn="l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Validator re-checks every figure and citation before anything is shown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74469" y="1920240"/>
            <a:ext cx="3611880" cy="2880360"/>
          </a:xfrm>
          <a:prstGeom prst="roundRect">
            <a:avLst>
              <a:gd name="adj" fmla="val 2222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74469" y="1920240"/>
            <a:ext cx="3611880" cy="54864"/>
          </a:xfrm>
          <a:prstGeom prst="rect">
            <a:avLst/>
          </a:prstGeom>
          <a:solidFill>
            <a:srgbClr val="00A6E0"/>
          </a:solidFill>
        </p:spPr>
      </p:sp>
      <p:sp>
        <p:nvSpPr>
          <p:cNvPr id="15" name="Text 13"/>
          <p:cNvSpPr/>
          <p:nvPr/>
        </p:nvSpPr>
        <p:spPr>
          <a:xfrm>
            <a:off x="8239061" y="2084832"/>
            <a:ext cx="32826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· EXPLAIN &amp; 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02485" y="2432304"/>
            <a:ext cx="3355848" cy="228600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Plain-language answer + trend chart on head unit or service tablet</a:t>
            </a:r>
            <a:endParaRPr lang="en-US" sz="1050" dirty="0"/>
          </a:p>
          <a:p>
            <a:pPr marL="342900" indent="-342900" algn="l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Exact lookups take a model-free fast path (typically &lt; 200 ms)</a:t>
            </a:r>
            <a:endParaRPr lang="en-US" sz="1050" dirty="0"/>
          </a:p>
          <a:p>
            <a:pPr marL="342900" indent="-342900" algn="l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Read-only by design: no write path to actuators or safety functions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3237" y="4956048"/>
            <a:ext cx="11183112" cy="658368"/>
          </a:xfrm>
          <a:prstGeom prst="roundRect">
            <a:avLst>
              <a:gd name="adj" fmla="val 9722"/>
            </a:avLst>
          </a:prstGeom>
          <a:solidFill>
            <a:srgbClr val="EFF7FD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6117" y="4956048"/>
            <a:ext cx="10789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Who it serves:   </a:t>
            </a:r>
            <a:r>
              <a:rPr lang="en-US" sz="1350" b="1" dirty="0">
                <a:solidFill>
                  <a:srgbClr val="0F2A4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Driver  ·  Service engineer  ·  Fleet operator  ·  Validation &amp; QA team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3237" y="5742432"/>
            <a:ext cx="1118311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117" y="5742432"/>
            <a:ext cx="10789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85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 local: </a:t>
            </a:r>
            <a:r>
              <a:rPr lang="en-US" sz="11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cloud calls, no telemetry egress — works in tunnels, workshops and test yards. Response, privacy and availability do not depend on connectivity.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3237" y="6528816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TELIPORT Season 4  |  Case Study 5 - Natural Language Vehicle Information (VehicleGPT)  |  Team: &lt;team name&gt;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81677" y="6528816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/ 10</a:t>
            </a:r>
            <a:endParaRPr lang="en-US" sz="900" dirty="0"/>
          </a:p>
        </p:txBody>
      </p:sp>
      <p:pic>
        <p:nvPicPr>
          <p:cNvPr id="9001" name="TELIPORT Logo"/>
          <p:cNvPicPr>
            <a:picLocks noChangeAspect="1"/>
          </p:cNvPicPr>
          <p:nvPr/>
        </p:nvPicPr>
        <p:blipFill>
          <a:blip r:embed="rId1" cstate="print"/>
          <a:srcRect t="33346" b="34336"/>
          <a:stretch>
            <a:fillRect/>
          </a:stretch>
        </p:blipFill>
        <p:spPr>
          <a:xfrm>
            <a:off x="317" y="14083"/>
            <a:ext cx="2361332" cy="763120"/>
          </a:xfrm>
          <a:prstGeom prst="rect">
            <a:avLst/>
          </a:prstGeom>
        </p:spPr>
      </p:pic>
      <p:pic>
        <p:nvPicPr>
          <p:cNvPr id="9002" name="TATA ELXSI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81658" y="89039"/>
            <a:ext cx="803547" cy="5673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237" y="8412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EXPECTED OUTPUT 1 · HIGH-LEVEL 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37" y="1097280"/>
            <a:ext cx="11183112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2A4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Hardware and software components, integrated end-to-end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3237" y="1755648"/>
            <a:ext cx="868680" cy="50292"/>
          </a:xfrm>
          <a:prstGeom prst="rect">
            <a:avLst/>
          </a:prstGeom>
          <a:solidFill>
            <a:srgbClr val="00A6E0"/>
          </a:solidFill>
        </p:spPr>
      </p:sp>
      <p:sp>
        <p:nvSpPr>
          <p:cNvPr id="5" name="Shape 3"/>
          <p:cNvSpPr/>
          <p:nvPr/>
        </p:nvSpPr>
        <p:spPr>
          <a:xfrm>
            <a:off x="503237" y="1874520"/>
            <a:ext cx="11183112" cy="347472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pic>
        <p:nvPicPr>
          <p:cNvPr id="6" name="Image 0" descr="diagrams/architecture_fu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965" y="1947672"/>
            <a:ext cx="10963656" cy="335075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3237" y="5440680"/>
            <a:ext cx="2706624" cy="932688"/>
          </a:xfrm>
          <a:prstGeom prst="roundRect">
            <a:avLst>
              <a:gd name="adj" fmla="val 6863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965" y="5504688"/>
            <a:ext cx="24871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HARDWARE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2965" y="5724144"/>
            <a:ext cx="2487168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Automotive ARM SBC or Raspberry Pi 5 + AI HAT · 2–8 GB RAM · NVMe/eMMC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28733" y="5440680"/>
            <a:ext cx="2706624" cy="932688"/>
          </a:xfrm>
          <a:prstGeom prst="roundRect">
            <a:avLst>
              <a:gd name="adj" fmla="val 6863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38461" y="5504688"/>
            <a:ext cx="24871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OS &amp; SAFETY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438461" y="5724144"/>
            <a:ext cx="2487168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Linux or QNX · hypervisor-isolated AI partition · read-only bus taps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54229" y="5440680"/>
            <a:ext cx="2706624" cy="932688"/>
          </a:xfrm>
          <a:prstGeom prst="roundRect">
            <a:avLst>
              <a:gd name="adj" fmla="val 6863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957" y="5504688"/>
            <a:ext cx="24871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RUNTIME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63957" y="5724144"/>
            <a:ext cx="2487168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llama.cpp (4-bit GGUF) · DuckDB + SQLite · containerised services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979725" y="5440680"/>
            <a:ext cx="2706624" cy="932688"/>
          </a:xfrm>
          <a:prstGeom prst="roundRect">
            <a:avLst>
              <a:gd name="adj" fmla="val 6863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89453" y="5504688"/>
            <a:ext cx="24871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INTERFACES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089453" y="5724144"/>
            <a:ext cx="2487168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SocketCAN · vsomeip · Vehicle HAL AIDL · ROS 2 / CARLA simulation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3237" y="6528816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TELIPORT Season 4  |  Case Study 5 - Natural Language Vehicle Information (VehicleGPT)  |  Team: &lt;team name&gt;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881677" y="6528816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/ 10</a:t>
            </a:r>
            <a:endParaRPr lang="en-US" sz="900" dirty="0"/>
          </a:p>
        </p:txBody>
      </p:sp>
      <p:pic>
        <p:nvPicPr>
          <p:cNvPr id="9001" name="TELIPORT Logo"/>
          <p:cNvPicPr>
            <a:picLocks noChangeAspect="1"/>
          </p:cNvPicPr>
          <p:nvPr/>
        </p:nvPicPr>
        <p:blipFill>
          <a:blip r:embed="rId2" cstate="print"/>
          <a:srcRect t="33346" b="34336"/>
          <a:stretch>
            <a:fillRect/>
          </a:stretch>
        </p:blipFill>
        <p:spPr>
          <a:xfrm>
            <a:off x="317" y="14083"/>
            <a:ext cx="2361332" cy="763120"/>
          </a:xfrm>
          <a:prstGeom prst="rect">
            <a:avLst/>
          </a:prstGeom>
        </p:spPr>
      </p:pic>
      <p:pic>
        <p:nvPicPr>
          <p:cNvPr id="9002" name="TATA ELXSI 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81658" y="89039"/>
            <a:ext cx="803547" cy="567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237" y="8412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EXPECTED OUTPUT 2 · VEHICLE DATA COLLECTION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37" y="1097280"/>
            <a:ext cx="11183112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2A4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Capture → normalise → tag → retain, every source maturity-tagged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3237" y="1755648"/>
            <a:ext cx="868680" cy="50292"/>
          </a:xfrm>
          <a:prstGeom prst="rect">
            <a:avLst/>
          </a:prstGeom>
          <a:solidFill>
            <a:srgbClr val="00A6E0"/>
          </a:solidFill>
        </p:spPr>
      </p:sp>
      <p:sp>
        <p:nvSpPr>
          <p:cNvPr id="5" name="Shape 3"/>
          <p:cNvSpPr/>
          <p:nvPr/>
        </p:nvSpPr>
        <p:spPr>
          <a:xfrm>
            <a:off x="503237" y="1920240"/>
            <a:ext cx="1517904" cy="457200"/>
          </a:xfrm>
          <a:prstGeom prst="roundRect">
            <a:avLst>
              <a:gd name="adj" fmla="val 10000"/>
            </a:avLst>
          </a:prstGeom>
          <a:solidFill>
            <a:srgbClr val="00A6E0"/>
          </a:solidFill>
        </p:spPr>
      </p:sp>
      <p:sp>
        <p:nvSpPr>
          <p:cNvPr id="6" name="Text 4"/>
          <p:cNvSpPr/>
          <p:nvPr/>
        </p:nvSpPr>
        <p:spPr>
          <a:xfrm>
            <a:off x="503237" y="1920240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CAPTURE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39429" y="2148840"/>
            <a:ext cx="164592" cy="0"/>
          </a:xfrm>
          <a:prstGeom prst="line">
            <a:avLst/>
          </a:prstGeom>
          <a:noFill/>
          <a:ln w="28575">
            <a:solidFill>
              <a:srgbClr val="00A6E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22309" y="1920240"/>
            <a:ext cx="1517904" cy="457200"/>
          </a:xfrm>
          <a:prstGeom prst="roundRect">
            <a:avLst>
              <a:gd name="adj" fmla="val 10000"/>
            </a:avLst>
          </a:prstGeom>
          <a:solidFill>
            <a:srgbClr val="00A6E0"/>
          </a:solidFill>
        </p:spPr>
      </p:sp>
      <p:sp>
        <p:nvSpPr>
          <p:cNvPr id="9" name="Text 7"/>
          <p:cNvSpPr/>
          <p:nvPr/>
        </p:nvSpPr>
        <p:spPr>
          <a:xfrm>
            <a:off x="2222309" y="1920240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NORMALISE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58501" y="2148840"/>
            <a:ext cx="164592" cy="0"/>
          </a:xfrm>
          <a:prstGeom prst="line">
            <a:avLst/>
          </a:prstGeom>
          <a:noFill/>
          <a:ln w="28575">
            <a:solidFill>
              <a:srgbClr val="00A6E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41381" y="1920240"/>
            <a:ext cx="1517904" cy="457200"/>
          </a:xfrm>
          <a:prstGeom prst="roundRect">
            <a:avLst>
              <a:gd name="adj" fmla="val 10000"/>
            </a:avLst>
          </a:prstGeom>
          <a:solidFill>
            <a:srgbClr val="00A6E0"/>
          </a:solidFill>
        </p:spPr>
      </p:sp>
      <p:sp>
        <p:nvSpPr>
          <p:cNvPr id="12" name="Text 10"/>
          <p:cNvSpPr/>
          <p:nvPr/>
        </p:nvSpPr>
        <p:spPr>
          <a:xfrm>
            <a:off x="3941381" y="1920240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77573" y="2148840"/>
            <a:ext cx="164592" cy="0"/>
          </a:xfrm>
          <a:prstGeom prst="line">
            <a:avLst/>
          </a:prstGeom>
          <a:noFill/>
          <a:ln w="28575">
            <a:solidFill>
              <a:srgbClr val="00A6E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0453" y="1920240"/>
            <a:ext cx="1517904" cy="457200"/>
          </a:xfrm>
          <a:prstGeom prst="roundRect">
            <a:avLst>
              <a:gd name="adj" fmla="val 10000"/>
            </a:avLst>
          </a:prstGeom>
          <a:solidFill>
            <a:srgbClr val="0077B6"/>
          </a:solidFill>
        </p:spPr>
      </p:sp>
      <p:sp>
        <p:nvSpPr>
          <p:cNvPr id="15" name="Text 13"/>
          <p:cNvSpPr/>
          <p:nvPr/>
        </p:nvSpPr>
        <p:spPr>
          <a:xfrm>
            <a:off x="5660453" y="1920240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STORE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3237" y="2414016"/>
            <a:ext cx="6675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SocketCAN / vsomeip / AIDL / logd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503237" y="2697480"/>
          <a:ext cx="6675120" cy="2016125"/>
        </p:xfrm>
        <a:graphic>
          <a:graphicData uri="http://schemas.openxmlformats.org/drawingml/2006/table">
            <a:tbl>
              <a:tblPr/>
              <a:tblGrid>
                <a:gridCol w="2148840"/>
                <a:gridCol w="3246120"/>
                <a:gridCol w="1280160"/>
              </a:tblGrid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Source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Collection interface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Maturity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CAN / CAN-FD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SocketCAN + DBC decoding at 500 kbps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protocol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SOME/IP services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vsomeip listener + ARXML schema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protocol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Android Vehicle HAL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AIDL property poll + event subscribe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file / log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QNX / infotainment logs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logd + journald forwarder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file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ADAS events &amp; camera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ROS 2 topics; clips captured on event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simulated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Diagnostic logs (DTC/UDS)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ISO-14229 listener, ring buffer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protocol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03237" y="4800600"/>
            <a:ext cx="6675120" cy="1600200"/>
          </a:xfrm>
          <a:prstGeom prst="roundRect">
            <a:avLst>
              <a:gd name="adj" fmla="val 4000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541" y="490118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Retention tiers — real-time + historical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2965" y="5175504"/>
            <a:ext cx="6455664" cy="1170432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Hot: last 48 h in RAM/SQLite — live queries and fast path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Warm: 4–6 weeks in partitioned Parquet on eMMC/NVMe — trends &amp; anomalies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Cold: zstd-compressed trip archives for forensics (months)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≈ 25–60 MB/day → ≤ 3.5 GB holds 60 days of history  [Assumption → measured in Round 2]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452677" y="1920240"/>
            <a:ext cx="4233672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52677" y="1920240"/>
            <a:ext cx="64008" cy="2395728"/>
          </a:xfrm>
          <a:prstGeom prst="rect">
            <a:avLst/>
          </a:prstGeom>
          <a:solidFill>
            <a:srgbClr val="FFC22B"/>
          </a:solidFill>
        </p:spPr>
      </p:sp>
      <p:sp>
        <p:nvSpPr>
          <p:cNvPr id="23" name="Text 20"/>
          <p:cNvSpPr/>
          <p:nvPr/>
        </p:nvSpPr>
        <p:spPr>
          <a:xfrm>
            <a:off x="7635557" y="2048256"/>
            <a:ext cx="38679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Recreating driving scenarios &amp; faults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598981" y="2359152"/>
            <a:ext cx="3941064" cy="187452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CARLA + SUMO drive cycles (city, highway, cold morning)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Fault injection: DTCs, thermal derate, ADAS shadow events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Recorded CAN / ROS 2 logs replayed with can-utils player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ground-truth scenarios with golden questions and answers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452677" y="4425696"/>
            <a:ext cx="4233672" cy="932688"/>
          </a:xfrm>
          <a:prstGeom prst="roundRect">
            <a:avLst>
              <a:gd name="adj" fmla="val 6863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35557" y="4517136"/>
            <a:ext cx="38679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maturity tags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617269" y="4754880"/>
            <a:ext cx="390448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protocol = live bus decode  ·  file = parsed log  ·  simulated = CARLA/replay. Every dashboard and answer carries its tag — no simulated data is presented as measured.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452677" y="5468112"/>
            <a:ext cx="4233672" cy="932688"/>
          </a:xfrm>
          <a:prstGeom prst="roundRect">
            <a:avLst>
              <a:gd name="adj" fmla="val 6863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635557" y="5559552"/>
            <a:ext cx="38679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 alignment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617269" y="5797296"/>
            <a:ext cx="390448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 monotonic clock across sources (PTP/NTP disciplined); every event carries a ±30 s context window so “what happened before” queries are exact.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03237" y="6528816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TELIPORT Season 4  |  Case Study 5 - Natural Language Vehicle Information (VehicleGPT)  |  Team: &lt;team name&gt;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881677" y="6528816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/ 10</a:t>
            </a:r>
            <a:endParaRPr lang="en-US" sz="900" dirty="0"/>
          </a:p>
        </p:txBody>
      </p:sp>
      <p:pic>
        <p:nvPicPr>
          <p:cNvPr id="9001" name="TELIPORT Logo"/>
          <p:cNvPicPr>
            <a:picLocks noChangeAspect="1"/>
          </p:cNvPicPr>
          <p:nvPr/>
        </p:nvPicPr>
        <p:blipFill>
          <a:blip r:embed="rId1" cstate="print"/>
          <a:srcRect t="33346" b="34336"/>
          <a:stretch>
            <a:fillRect/>
          </a:stretch>
        </p:blipFill>
        <p:spPr>
          <a:xfrm>
            <a:off x="317" y="14083"/>
            <a:ext cx="2361332" cy="763120"/>
          </a:xfrm>
          <a:prstGeom prst="rect">
            <a:avLst/>
          </a:prstGeom>
        </p:spPr>
      </p:pic>
      <p:pic>
        <p:nvPicPr>
          <p:cNvPr id="9002" name="TATA ELXSI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81658" y="89039"/>
            <a:ext cx="803547" cy="5673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237" y="8412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EXPECTED OUTPUT 3 · SLM / LLM SELECTION RATIONALE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37" y="1097280"/>
            <a:ext cx="11183112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2A4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Smallest model that clears the bar — quantised, permissive, CPU-first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3237" y="1755648"/>
            <a:ext cx="868680" cy="50292"/>
          </a:xfrm>
          <a:prstGeom prst="rect">
            <a:avLst/>
          </a:prstGeom>
          <a:solidFill>
            <a:srgbClr val="00A6E0"/>
          </a:solidFill>
        </p:spPr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03237" y="1874520"/>
          <a:ext cx="7589520" cy="2235200"/>
        </p:xfrm>
        <a:graphic>
          <a:graphicData uri="http://schemas.openxmlformats.org/drawingml/2006/table">
            <a:tbl>
              <a:tblPr/>
              <a:tblGrid>
                <a:gridCol w="2057400"/>
                <a:gridCol w="685800"/>
                <a:gridCol w="1371600"/>
                <a:gridCol w="1188720"/>
                <a:gridCol w="2286000"/>
              </a:tblGrid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Model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Params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Licence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RAM @ Q4_K_M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Verdict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Qwen2.5-1.5B-Instruct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1.5B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Apache-2.0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≈ 1.0 GB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SELECTED — 32k context, strong function calling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Qwen2.5-0.5B-Instruct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0.5B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Apache-2.0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≈ 0.4 GB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Fallback for the strict 2 GB configuration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Llama 3.2 1B Instruct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1B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Llama Community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≈ 0.8 GB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Comparison baseline in benchmarks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Phi-3.5-mini Instruct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3.8B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MIT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≈ 2.4 GB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Rejected — exceeds the 2 GB memory budget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Gemma 2 2B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2B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Gemma Terms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≈ 1.6 GB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Rejected — redistribution terms + budget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03237" y="4224528"/>
            <a:ext cx="7589520" cy="2176272"/>
          </a:xfrm>
          <a:prstGeom prst="roundRect">
            <a:avLst>
              <a:gd name="adj" fmla="val 2941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541" y="433425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the choice was made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2965" y="4626864"/>
            <a:ext cx="7370064" cy="1700784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Score = answer quality on a vehicle QA set × licence fit ÷ RAM cost; Apache-2.0 allows redistribution in the product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Runs CPU-only through llama.cpp (MIT) as 4-bit GGUF — no GPU/NPU dependency, deterministic packaging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role is deliberately narrow: classify the question, shape the answer from the evidence package, never compute figures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Grammar-constrained JSON output so the validator can parse, re-check and cite every claim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 RAM numbers are calculated estimates from declared assumptions → measured on the reference board  [Design / Target]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275637" y="1874520"/>
            <a:ext cx="3410712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75637" y="1874520"/>
            <a:ext cx="3410712" cy="54864"/>
          </a:xfrm>
          <a:prstGeom prst="rect">
            <a:avLst/>
          </a:prstGeom>
          <a:solidFill>
            <a:srgbClr val="00A6E0"/>
          </a:solidFill>
        </p:spPr>
      </p:sp>
      <p:sp>
        <p:nvSpPr>
          <p:cNvPr id="11" name="Text 8"/>
          <p:cNvSpPr/>
          <p:nvPr/>
        </p:nvSpPr>
        <p:spPr>
          <a:xfrm>
            <a:off x="8421941" y="2011680"/>
            <a:ext cx="31181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a small model is enough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85365" y="2304288"/>
            <a:ext cx="3191256" cy="164592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Numbers come from SQL/analytics, not from the LLM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SLM only does intent, summarisation and phrasing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4-bit weights: 0.4–1.0 GB → fits 2 GB with OS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file pre-loaded from disk — no network needed at boot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275637" y="4224528"/>
            <a:ext cx="3410712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75637" y="4224528"/>
            <a:ext cx="3410712" cy="54864"/>
          </a:xfrm>
          <a:prstGeom prst="rect">
            <a:avLst/>
          </a:prstGeom>
          <a:solidFill>
            <a:srgbClr val="FFC22B"/>
          </a:solidFill>
        </p:spPr>
      </p:sp>
      <p:sp>
        <p:nvSpPr>
          <p:cNvPr id="15" name="Text 12"/>
          <p:cNvSpPr/>
          <p:nvPr/>
        </p:nvSpPr>
        <p:spPr>
          <a:xfrm>
            <a:off x="8421941" y="4361688"/>
            <a:ext cx="31181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Guardrails on the model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385365" y="4654296"/>
            <a:ext cx="3191256" cy="164592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Answer must cite evidence rows; no evidence → explicit “not found”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Refuses safety-adjacent advice; points to the manual/dealer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bundle swappable over-the-air without retraining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Upgradable tier (1.5B → 3B) on vehicle HPC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3237" y="6528816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TELIPORT Season 4  |  Case Study 5 - Natural Language Vehicle Information (VehicleGPT)  |  Team: &lt;team name&gt;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881677" y="6528816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/ 10</a:t>
            </a:r>
            <a:endParaRPr lang="en-US" sz="900" dirty="0"/>
          </a:p>
        </p:txBody>
      </p:sp>
      <p:pic>
        <p:nvPicPr>
          <p:cNvPr id="9001" name="TELIPORT Logo"/>
          <p:cNvPicPr>
            <a:picLocks noChangeAspect="1"/>
          </p:cNvPicPr>
          <p:nvPr/>
        </p:nvPicPr>
        <p:blipFill>
          <a:blip r:embed="rId1" cstate="print"/>
          <a:srcRect t="33346" b="34336"/>
          <a:stretch>
            <a:fillRect/>
          </a:stretch>
        </p:blipFill>
        <p:spPr>
          <a:xfrm>
            <a:off x="317" y="14083"/>
            <a:ext cx="2361332" cy="763120"/>
          </a:xfrm>
          <a:prstGeom prst="rect">
            <a:avLst/>
          </a:prstGeom>
        </p:spPr>
      </p:pic>
      <p:pic>
        <p:nvPicPr>
          <p:cNvPr id="9002" name="TATA ELXSI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81658" y="89039"/>
            <a:ext cx="803547" cy="5673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237" y="8412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EXPECTED OUTPUT 4 · SEARCH &amp; RETRIEVAL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37" y="1097280"/>
            <a:ext cx="11183112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2A4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Computed first, written second, verified always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3237" y="1755648"/>
            <a:ext cx="868680" cy="50292"/>
          </a:xfrm>
          <a:prstGeom prst="rect">
            <a:avLst/>
          </a:prstGeom>
          <a:solidFill>
            <a:srgbClr val="00A6E0"/>
          </a:solidFill>
        </p:spPr>
      </p:sp>
      <p:sp>
        <p:nvSpPr>
          <p:cNvPr id="5" name="Shape 3"/>
          <p:cNvSpPr/>
          <p:nvPr/>
        </p:nvSpPr>
        <p:spPr>
          <a:xfrm>
            <a:off x="503237" y="1938528"/>
            <a:ext cx="1965960" cy="713232"/>
          </a:xfrm>
          <a:prstGeom prst="roundRect">
            <a:avLst>
              <a:gd name="adj" fmla="val 8974"/>
            </a:avLst>
          </a:prstGeom>
          <a:solidFill>
            <a:srgbClr val="00A6E0"/>
          </a:solidFill>
        </p:spPr>
      </p:sp>
      <p:sp>
        <p:nvSpPr>
          <p:cNvPr id="6" name="Text 4"/>
          <p:cNvSpPr/>
          <p:nvPr/>
        </p:nvSpPr>
        <p:spPr>
          <a:xfrm>
            <a:off x="503237" y="1938528"/>
            <a:ext cx="19659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96629" y="2295144"/>
            <a:ext cx="265176" cy="0"/>
          </a:xfrm>
          <a:prstGeom prst="line">
            <a:avLst/>
          </a:prstGeom>
          <a:noFill/>
          <a:ln w="28575">
            <a:solidFill>
              <a:srgbClr val="00A6E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89237" y="1938528"/>
            <a:ext cx="1965960" cy="713232"/>
          </a:xfrm>
          <a:prstGeom prst="roundRect">
            <a:avLst>
              <a:gd name="adj" fmla="val 8974"/>
            </a:avLst>
          </a:prstGeom>
          <a:solidFill>
            <a:srgbClr val="00A6E0"/>
          </a:solidFill>
        </p:spPr>
      </p:sp>
      <p:sp>
        <p:nvSpPr>
          <p:cNvPr id="9" name="Text 7"/>
          <p:cNvSpPr/>
          <p:nvPr/>
        </p:nvSpPr>
        <p:spPr>
          <a:xfrm>
            <a:off x="2789237" y="1938528"/>
            <a:ext cx="19659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Intent router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82629" y="2295144"/>
            <a:ext cx="265176" cy="0"/>
          </a:xfrm>
          <a:prstGeom prst="line">
            <a:avLst/>
          </a:prstGeom>
          <a:noFill/>
          <a:ln w="28575">
            <a:solidFill>
              <a:srgbClr val="00A6E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75237" y="1938528"/>
            <a:ext cx="1965960" cy="713232"/>
          </a:xfrm>
          <a:prstGeom prst="roundRect">
            <a:avLst>
              <a:gd name="adj" fmla="val 8974"/>
            </a:avLst>
          </a:prstGeom>
          <a:solidFill>
            <a:srgbClr val="0077B6"/>
          </a:solidFill>
        </p:spPr>
      </p:sp>
      <p:sp>
        <p:nvSpPr>
          <p:cNvPr id="12" name="Text 10"/>
          <p:cNvSpPr/>
          <p:nvPr/>
        </p:nvSpPr>
        <p:spPr>
          <a:xfrm>
            <a:off x="5075237" y="1938528"/>
            <a:ext cx="19659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Evidence engines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68629" y="2295144"/>
            <a:ext cx="265176" cy="0"/>
          </a:xfrm>
          <a:prstGeom prst="line">
            <a:avLst/>
          </a:prstGeom>
          <a:noFill/>
          <a:ln w="28575">
            <a:solidFill>
              <a:srgbClr val="00A6E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61237" y="1938528"/>
            <a:ext cx="1965960" cy="713232"/>
          </a:xfrm>
          <a:prstGeom prst="roundRect">
            <a:avLst>
              <a:gd name="adj" fmla="val 8974"/>
            </a:avLst>
          </a:prstGeom>
          <a:solidFill>
            <a:srgbClr val="00A6E0"/>
          </a:solidFill>
        </p:spPr>
      </p:sp>
      <p:sp>
        <p:nvSpPr>
          <p:cNvPr id="15" name="Text 13"/>
          <p:cNvSpPr/>
          <p:nvPr/>
        </p:nvSpPr>
        <p:spPr>
          <a:xfrm>
            <a:off x="7361237" y="1938528"/>
            <a:ext cx="19659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SLM composes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54629" y="2295144"/>
            <a:ext cx="265176" cy="0"/>
          </a:xfrm>
          <a:prstGeom prst="line">
            <a:avLst/>
          </a:prstGeom>
          <a:noFill/>
          <a:ln w="28575">
            <a:solidFill>
              <a:srgbClr val="00A6E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47237" y="1938528"/>
            <a:ext cx="1965960" cy="713232"/>
          </a:xfrm>
          <a:prstGeom prst="roundRect">
            <a:avLst>
              <a:gd name="adj" fmla="val 8974"/>
            </a:avLst>
          </a:prstGeom>
          <a:solidFill>
            <a:srgbClr val="0F2A43"/>
          </a:solidFill>
        </p:spPr>
      </p:sp>
      <p:sp>
        <p:nvSpPr>
          <p:cNvPr id="18" name="Text 16"/>
          <p:cNvSpPr/>
          <p:nvPr/>
        </p:nvSpPr>
        <p:spPr>
          <a:xfrm>
            <a:off x="9647237" y="1938528"/>
            <a:ext cx="19659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Validator + citations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3237" y="2971800"/>
            <a:ext cx="361188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3237" y="2971800"/>
            <a:ext cx="3611880" cy="54864"/>
          </a:xfrm>
          <a:prstGeom prst="rect">
            <a:avLst/>
          </a:prstGeom>
          <a:solidFill>
            <a:srgbClr val="12855F"/>
          </a:solidFill>
        </p:spPr>
      </p:sp>
      <p:sp>
        <p:nvSpPr>
          <p:cNvPr id="21" name="Text 19"/>
          <p:cNvSpPr/>
          <p:nvPr/>
        </p:nvSpPr>
        <p:spPr>
          <a:xfrm>
            <a:off x="649541" y="3108960"/>
            <a:ext cx="33192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85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 PATH — exact lookup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2965" y="3383280"/>
            <a:ext cx="3392424" cy="109728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“when / show all / list” questions</a:t>
            </a:r>
            <a:endParaRPr lang="en-US" sz="95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Indexed temporal + DTC search, model skipped</a:t>
            </a:r>
            <a:endParaRPr lang="en-US" sz="95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Typically &lt; 200 ms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88853" y="2971800"/>
            <a:ext cx="361188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88853" y="2971800"/>
            <a:ext cx="3611880" cy="54864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25" name="Text 23"/>
          <p:cNvSpPr/>
          <p:nvPr/>
        </p:nvSpPr>
        <p:spPr>
          <a:xfrm>
            <a:off x="4435157" y="3108960"/>
            <a:ext cx="33192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ANALYTIC PATH — why / compare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398581" y="3383280"/>
            <a:ext cx="3392424" cy="109728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SQL, trend and anomaly engines compute deltas</a:t>
            </a:r>
            <a:endParaRPr lang="en-US" sz="95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Ranks causal contributors with magnitudes</a:t>
            </a:r>
            <a:endParaRPr lang="en-US" sz="95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Returns rows, not prose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74469" y="2971800"/>
            <a:ext cx="361188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74469" y="2971800"/>
            <a:ext cx="3611880" cy="54864"/>
          </a:xfrm>
          <a:prstGeom prst="rect">
            <a:avLst/>
          </a:prstGeom>
          <a:solidFill>
            <a:srgbClr val="00A6E0"/>
          </a:solidFill>
        </p:spPr>
      </p:sp>
      <p:sp>
        <p:nvSpPr>
          <p:cNvPr id="29" name="Text 27"/>
          <p:cNvSpPr/>
          <p:nvPr/>
        </p:nvSpPr>
        <p:spPr>
          <a:xfrm>
            <a:off x="8220773" y="3108960"/>
            <a:ext cx="33192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NARRATIVE PATH — what happened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184197" y="3383280"/>
            <a:ext cx="3392424" cy="109728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Retrieval over event summaries + trip context</a:t>
            </a:r>
            <a:endParaRPr lang="en-US" sz="95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Small vector index over local embeddings</a:t>
            </a:r>
            <a:endParaRPr lang="en-US" sz="95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Feeds context window for the SLM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3237" y="4709160"/>
            <a:ext cx="11183112" cy="1691640"/>
          </a:xfrm>
          <a:prstGeom prst="roundRect">
            <a:avLst>
              <a:gd name="adj" fmla="val 3784"/>
            </a:avLst>
          </a:prstGeom>
          <a:solidFill>
            <a:srgbClr val="EFF7FD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6117" y="480974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Worked example — end to end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829" y="5084064"/>
            <a:ext cx="10853928" cy="1243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Q: </a:t>
            </a:r>
            <a:r>
              <a:rPr lang="en-US" sz="1050" b="1" dirty="0">
                <a:solidFill>
                  <a:srgbClr val="0F2A4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“Why has my driving range reduced over the last two weeks?”</a:t>
            </a:r>
            <a:endParaRPr lang="en-US" sz="1050" dirty="0"/>
          </a:p>
          <a:p>
            <a:pPr marL="0" indent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Evidence: </a:t>
            </a:r>
            <a:r>
              <a:rPr lang="en-US" sz="10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usable capacity −4.2% · mean consumption +9.8% · 3 cabin-preconditioning spikes on cold mornings · 1 tyre-pressure DTC — each with signal, value, timestamp</a:t>
            </a:r>
            <a:endParaRPr lang="en-US" sz="1050" dirty="0"/>
          </a:p>
          <a:p>
            <a:pPr marL="0" indent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Answer: </a:t>
            </a:r>
            <a:r>
              <a:rPr lang="en-US" sz="10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one-sentence cause + ranked contributors + trend chart + source chips; the validator re-derives every number or flags it</a:t>
            </a:r>
            <a:endParaRPr lang="en-US" sz="1050" dirty="0"/>
          </a:p>
          <a:p>
            <a:pPr marL="0" indent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Latency: </a:t>
            </a:r>
            <a:r>
              <a:rPr lang="en-US" sz="1050" b="1" dirty="0">
                <a:solidFill>
                  <a:srgbClr val="1285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parse 50 ms · retrieve 300 ms · generate 900 ms · validate 150 ms ≈ 1.4 s  [Target — measured in Round 2]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3237" y="6528816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TELIPORT Season 4  |  Case Study 5 - Natural Language Vehicle Information (VehicleGPT)  |  Team: &lt;team name&gt;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81677" y="6528816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/ 10</a:t>
            </a:r>
            <a:endParaRPr lang="en-US" sz="900" dirty="0"/>
          </a:p>
        </p:txBody>
      </p:sp>
      <p:pic>
        <p:nvPicPr>
          <p:cNvPr id="9001" name="TELIPORT Logo"/>
          <p:cNvPicPr>
            <a:picLocks noChangeAspect="1"/>
          </p:cNvPicPr>
          <p:nvPr/>
        </p:nvPicPr>
        <p:blipFill>
          <a:blip r:embed="rId1" cstate="print"/>
          <a:srcRect t="33346" b="34336"/>
          <a:stretch>
            <a:fillRect/>
          </a:stretch>
        </p:blipFill>
        <p:spPr>
          <a:xfrm>
            <a:off x="317" y="14083"/>
            <a:ext cx="2361332" cy="763120"/>
          </a:xfrm>
          <a:prstGeom prst="rect">
            <a:avLst/>
          </a:prstGeom>
        </p:spPr>
      </p:pic>
      <p:pic>
        <p:nvPicPr>
          <p:cNvPr id="9002" name="TATA ELXSI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81658" y="89039"/>
            <a:ext cx="803547" cy="5673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237" y="8412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EXPECTED OUTPUT 5 · HISTORICAL DATA STORAGE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37" y="1097280"/>
            <a:ext cx="11183112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2A4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Weeks of searchable history in a few gigabytes — all on the vehicle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3237" y="1755648"/>
            <a:ext cx="868680" cy="50292"/>
          </a:xfrm>
          <a:prstGeom prst="rect">
            <a:avLst/>
          </a:prstGeom>
          <a:solidFill>
            <a:srgbClr val="00A6E0"/>
          </a:solidFill>
        </p:spPr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03237" y="1874520"/>
          <a:ext cx="6949440" cy="1389380"/>
        </p:xfrm>
        <a:graphic>
          <a:graphicData uri="http://schemas.openxmlformats.org/drawingml/2006/table">
            <a:tbl>
              <a:tblPr/>
              <a:tblGrid>
                <a:gridCol w="731520"/>
                <a:gridCol w="2834640"/>
                <a:gridCol w="1097280"/>
                <a:gridCol w="2286000"/>
              </a:tblGrid>
              <a:tr h="347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Tier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Store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Window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Serves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Hot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SQLite + in-process cache (WAL)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last 48 h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live queries, fast path, dashboards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Warm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Parquet + DuckDB, partitioned by day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4–6 weeks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trends, anomalies, retrieval index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Cold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zstd-compressed trip archives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months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forensics, validation replay, export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3237" y="3429000"/>
            <a:ext cx="6949440" cy="2971800"/>
          </a:xfrm>
          <a:prstGeom prst="roundRect">
            <a:avLst>
              <a:gd name="adj" fmla="val 2154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541" y="3538728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Canonical schema (one model for every source)</a:t>
            </a:r>
            <a:endParaRPr lang="en-US" sz="1200" dirty="0"/>
          </a:p>
        </p:txBody>
      </p:sp>
      <p:sp>
        <p:nvSpPr>
          <p:cNvPr id="5" name="Text 5"/>
          <p:cNvSpPr/>
          <p:nvPr/>
        </p:nvSpPr>
        <p:spPr>
          <a:xfrm>
            <a:off x="612965" y="3840480"/>
            <a:ext cx="6729984" cy="246888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signals(event_time, source, signal_id, value, unit, trip_id) — columnar, sorted for range scans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events(type, severity, source, window_start, window_end) — DTCs, ADAS disengagements, thermal warnings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trips(trip_id, scene, distance, energy, tags) — city / highway / cold-start labelling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notes(embedding, trip_id, text) — local embeddings for “what happened” semantic search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Written once by the ingest pipeline; read-only for the AI layer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681277" y="1874520"/>
            <a:ext cx="400507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81277" y="1874520"/>
            <a:ext cx="4005072" cy="54864"/>
          </a:xfrm>
          <a:prstGeom prst="rect">
            <a:avLst/>
          </a:prstGeom>
          <a:solidFill>
            <a:srgbClr val="00A6E0"/>
          </a:solidFill>
        </p:spPr>
      </p:sp>
      <p:sp>
        <p:nvSpPr>
          <p:cNvPr id="11" name="Text 8"/>
          <p:cNvSpPr/>
          <p:nvPr/>
        </p:nvSpPr>
        <p:spPr>
          <a:xfrm>
            <a:off x="7827581" y="2011680"/>
            <a:ext cx="37124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Storage math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91005" y="2286000"/>
            <a:ext cx="3785616" cy="137160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≈ 60 signals @ 10 Hz + events ≈ 25–60 MB/day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Delta + zstd compression ≈ 5–10×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≤ 3.5 GB holds 60 days on 16 GB eMMC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[Assumption → verified on reference board]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681277" y="3840480"/>
            <a:ext cx="4005072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81277" y="3840480"/>
            <a:ext cx="4005072" cy="54864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15" name="Text 12"/>
          <p:cNvSpPr/>
          <p:nvPr/>
        </p:nvSpPr>
        <p:spPr>
          <a:xfrm>
            <a:off x="7827581" y="3977640"/>
            <a:ext cx="37124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Search layer (all local)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91005" y="4251960"/>
            <a:ext cx="3785616" cy="82296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DuckDB SQL over Parquet partitions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Inverted event index (DTC / signal keywords)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Small HNSW vector index for narrative search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681277" y="5257800"/>
            <a:ext cx="400507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1277" y="5257800"/>
            <a:ext cx="4005072" cy="54864"/>
          </a:xfrm>
          <a:prstGeom prst="rect">
            <a:avLst/>
          </a:prstGeom>
          <a:solidFill>
            <a:srgbClr val="FFC22B"/>
          </a:solidFill>
        </p:spPr>
      </p:sp>
      <p:sp>
        <p:nvSpPr>
          <p:cNvPr id="19" name="Text 16"/>
          <p:cNvSpPr/>
          <p:nvPr/>
        </p:nvSpPr>
        <p:spPr>
          <a:xfrm>
            <a:off x="7827581" y="5394960"/>
            <a:ext cx="37124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Retention &amp; privacy policy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791005" y="5669280"/>
            <a:ext cx="3785616" cy="68580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Rolling window, auto-pruned — no cloud offload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 wipe on owner/factory reset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3237" y="6528816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TELIPORT Season 4  |  Case Study 5 - Natural Language Vehicle Information (VehicleGPT)  |  Team: &lt;team name&gt;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881677" y="6528816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 / 10</a:t>
            </a:r>
            <a:endParaRPr lang="en-US" sz="900" dirty="0"/>
          </a:p>
        </p:txBody>
      </p:sp>
      <p:pic>
        <p:nvPicPr>
          <p:cNvPr id="9001" name="TELIPORT Logo"/>
          <p:cNvPicPr>
            <a:picLocks noChangeAspect="1"/>
          </p:cNvPicPr>
          <p:nvPr/>
        </p:nvPicPr>
        <p:blipFill>
          <a:blip r:embed="rId1" cstate="print"/>
          <a:srcRect t="33346" b="34336"/>
          <a:stretch>
            <a:fillRect/>
          </a:stretch>
        </p:blipFill>
        <p:spPr>
          <a:xfrm>
            <a:off x="317" y="14083"/>
            <a:ext cx="2361332" cy="763120"/>
          </a:xfrm>
          <a:prstGeom prst="rect">
            <a:avLst/>
          </a:prstGeom>
        </p:spPr>
      </p:pic>
      <p:pic>
        <p:nvPicPr>
          <p:cNvPr id="9002" name="TATA ELXSI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81658" y="89039"/>
            <a:ext cx="803547" cy="5673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237" y="8412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EXPECTED OUTPUT 6 · EDGE DEPLOYMENT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37" y="1097280"/>
            <a:ext cx="11183112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2A4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 container image, four rungs — CI VM all the way to vehicle HPC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3237" y="1755648"/>
            <a:ext cx="868680" cy="50292"/>
          </a:xfrm>
          <a:prstGeom prst="rect">
            <a:avLst/>
          </a:prstGeom>
          <a:solidFill>
            <a:srgbClr val="00A6E0"/>
          </a:solidFill>
        </p:spPr>
      </p:sp>
      <p:sp>
        <p:nvSpPr>
          <p:cNvPr id="5" name="Shape 3"/>
          <p:cNvSpPr/>
          <p:nvPr/>
        </p:nvSpPr>
        <p:spPr>
          <a:xfrm>
            <a:off x="503237" y="1920240"/>
            <a:ext cx="6949440" cy="731520"/>
          </a:xfrm>
          <a:prstGeom prst="roundRect">
            <a:avLst>
              <a:gd name="adj" fmla="val 7500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677" y="203911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0077B6"/>
          </a:solidFill>
        </p:spPr>
      </p:sp>
      <p:sp>
        <p:nvSpPr>
          <p:cNvPr id="7" name="Text 5"/>
          <p:cNvSpPr/>
          <p:nvPr/>
        </p:nvSpPr>
        <p:spPr>
          <a:xfrm>
            <a:off x="594677" y="203911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16469" y="199339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DEV / 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16469" y="2212848"/>
            <a:ext cx="61264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x86 VM · CARLA + vCAN replay · QEMU / Cuttlefish — iterate freely at zero hardware cost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3237" y="2761488"/>
            <a:ext cx="6949440" cy="731520"/>
          </a:xfrm>
          <a:prstGeom prst="roundRect">
            <a:avLst>
              <a:gd name="adj" fmla="val 7500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677" y="2880360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0077B6"/>
          </a:solidFill>
        </p:spPr>
      </p:sp>
      <p:sp>
        <p:nvSpPr>
          <p:cNvPr id="12" name="Text 10"/>
          <p:cNvSpPr/>
          <p:nvPr/>
        </p:nvSpPr>
        <p:spPr>
          <a:xfrm>
            <a:off x="594677" y="288036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16469" y="283464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REFERENCE BOARD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16469" y="3054096"/>
            <a:ext cx="61264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Raspberry Pi 5 (4–8 GB) + AI HAT + NVMe — where the 2 GB / 2 s targets are proven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3237" y="3602736"/>
            <a:ext cx="6949440" cy="731520"/>
          </a:xfrm>
          <a:prstGeom prst="roundRect">
            <a:avLst>
              <a:gd name="adj" fmla="val 7500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677" y="3721608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0077B6"/>
          </a:solidFill>
        </p:spPr>
      </p:sp>
      <p:sp>
        <p:nvSpPr>
          <p:cNvPr id="17" name="Text 15"/>
          <p:cNvSpPr/>
          <p:nvPr/>
        </p:nvSpPr>
        <p:spPr>
          <a:xfrm>
            <a:off x="594677" y="3721608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16469" y="367588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VEHICLE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16469" y="3895344"/>
            <a:ext cx="61264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Automotive-grade ARM SoC (Linux or QNX) · optional NPU · hypervisor-isolated AI partition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3237" y="4443984"/>
            <a:ext cx="6949440" cy="731520"/>
          </a:xfrm>
          <a:prstGeom prst="roundRect">
            <a:avLst>
              <a:gd name="adj" fmla="val 7500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677" y="4562856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0077B6"/>
          </a:solidFill>
        </p:spPr>
      </p:sp>
      <p:sp>
        <p:nvSpPr>
          <p:cNvPr id="22" name="Text 20"/>
          <p:cNvSpPr/>
          <p:nvPr/>
        </p:nvSpPr>
        <p:spPr>
          <a:xfrm>
            <a:off x="594677" y="4562856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16469" y="451713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VEHICLE HPC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16469" y="4736592"/>
            <a:ext cx="61264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Same OCI image · larger model tier (1.5B → 3B) · multi-ECU fan-out, fleet-wide rollout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3237" y="5285232"/>
            <a:ext cx="694944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541" y="5376672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Packaging &amp; operations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2965" y="5632704"/>
            <a:ext cx="6729984" cy="73152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Single OCI container + systemd unit; signed OTA bundles for model, index and rules</a:t>
            </a:r>
            <a:endParaRPr lang="en-US" sz="95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Config selects model tier per hardware class; rollback on failed health check; safety partition never updated by this path</a:t>
            </a:r>
            <a:endParaRPr lang="en-US" sz="9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7681277" y="1920240"/>
          <a:ext cx="4004945" cy="2112010"/>
        </p:xfrm>
        <a:graphic>
          <a:graphicData uri="http://schemas.openxmlformats.org/drawingml/2006/table">
            <a:tbl>
              <a:tblPr/>
              <a:tblGrid>
                <a:gridCol w="1627505"/>
                <a:gridCol w="1188720"/>
                <a:gridCol w="1188720"/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Component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 GB build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4–8 GB build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SLM (Q4_K_M)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0.4 GB (0.5B)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1.0 GB (1.5B)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KV cache + runtime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0.2 GB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0.4 GB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DuckDB + indexes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0.3 GB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0.4 GB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Ingest + normalisers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0.4 GB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0.5 GB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OS + services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0.6 GB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1.0 GB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Total (target)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≈ 1.9 GB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≈ 3.3 GB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7681277" y="4315968"/>
            <a:ext cx="4005072" cy="1005840"/>
          </a:xfrm>
          <a:prstGeom prst="roundRect">
            <a:avLst>
              <a:gd name="adj" fmla="val 6364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27581" y="4407408"/>
            <a:ext cx="37124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Latency budget  [Target]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7827581" y="4645152"/>
            <a:ext cx="371246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parse 50 ms · retrieve 300 ms · generate 900 ms · validate 150 ms ≈ 1.4 s end-to-end, inside the 2 s constraint.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7681277" y="5431536"/>
            <a:ext cx="4005072" cy="969264"/>
          </a:xfrm>
          <a:prstGeom prst="roundRect">
            <a:avLst>
              <a:gd name="adj" fmla="val 6604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27581" y="5522976"/>
            <a:ext cx="37124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85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 path keeps the promise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7827581" y="5760720"/>
            <a:ext cx="3712464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Exact lookups skip the model entirely — typically &lt; 200 ms, leaving the budget for the hard “why” questions.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03237" y="6528816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TELIPORT Season 4  |  Case Study 5 - Natural Language Vehicle Information (VehicleGPT)  |  Team: &lt;team name&gt;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881677" y="6528816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/ 10</a:t>
            </a:r>
            <a:endParaRPr lang="en-US" sz="900" dirty="0"/>
          </a:p>
        </p:txBody>
      </p:sp>
      <p:pic>
        <p:nvPicPr>
          <p:cNvPr id="9001" name="TELIPORT Logo"/>
          <p:cNvPicPr>
            <a:picLocks noChangeAspect="1"/>
          </p:cNvPicPr>
          <p:nvPr/>
        </p:nvPicPr>
        <p:blipFill>
          <a:blip r:embed="rId1" cstate="print"/>
          <a:srcRect t="33346" b="34336"/>
          <a:stretch>
            <a:fillRect/>
          </a:stretch>
        </p:blipFill>
        <p:spPr>
          <a:xfrm>
            <a:off x="317" y="14083"/>
            <a:ext cx="2361332" cy="763120"/>
          </a:xfrm>
          <a:prstGeom prst="rect">
            <a:avLst/>
          </a:prstGeom>
        </p:spPr>
      </p:pic>
      <p:pic>
        <p:nvPicPr>
          <p:cNvPr id="9002" name="TATA ELXSI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81658" y="89039"/>
            <a:ext cx="803547" cy="5673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237" y="8412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EXPECTED OUTPUT 7 · USER INTERACTION · PRIVACY &amp;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37" y="1097280"/>
            <a:ext cx="11183112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2A4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Three modes, one answer contract, a hard safety boundary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3237" y="1755648"/>
            <a:ext cx="868680" cy="50292"/>
          </a:xfrm>
          <a:prstGeom prst="rect">
            <a:avLst/>
          </a:prstGeom>
          <a:solidFill>
            <a:srgbClr val="00A6E0"/>
          </a:solidFill>
        </p:spPr>
      </p:sp>
      <p:sp>
        <p:nvSpPr>
          <p:cNvPr id="5" name="Shape 3"/>
          <p:cNvSpPr/>
          <p:nvPr/>
        </p:nvSpPr>
        <p:spPr>
          <a:xfrm>
            <a:off x="503237" y="1920240"/>
            <a:ext cx="55778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3237" y="1920240"/>
            <a:ext cx="64008" cy="1371600"/>
          </a:xfrm>
          <a:prstGeom prst="rect">
            <a:avLst/>
          </a:prstGeom>
          <a:solidFill>
            <a:srgbClr val="00A6E0"/>
          </a:solidFill>
        </p:spPr>
      </p:sp>
      <p:sp>
        <p:nvSpPr>
          <p:cNvPr id="7" name="Text 5"/>
          <p:cNvSpPr/>
          <p:nvPr/>
        </p:nvSpPr>
        <p:spPr>
          <a:xfrm>
            <a:off x="686117" y="202996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DRIVER — head unit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6117" y="2322576"/>
            <a:ext cx="5257800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Voice or typed question on the infotainment screen; short answer, trend sparkline, follow-up chips (“compare last month”, “what changed?”). No jargon, no raw signal names.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3237" y="3401568"/>
            <a:ext cx="55778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3237" y="3401568"/>
            <a:ext cx="64008" cy="1371600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11" name="Text 9"/>
          <p:cNvSpPr/>
          <p:nvPr/>
        </p:nvSpPr>
        <p:spPr>
          <a:xfrm>
            <a:off x="686117" y="3511296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SERVICE ENGINEER — tablet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6117" y="3803904"/>
            <a:ext cx="5257800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VIN-scoped session: DTC timeline, evidence rows, replay of the fault window; one tap exports the answer and its evidence into the repair order.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3237" y="4882896"/>
            <a:ext cx="55778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3237" y="4882896"/>
            <a:ext cx="64008" cy="1371600"/>
          </a:xfrm>
          <a:prstGeom prst="rect">
            <a:avLst/>
          </a:prstGeom>
          <a:solidFill>
            <a:srgbClr val="0F2A43"/>
          </a:solidFill>
        </p:spPr>
      </p:sp>
      <p:sp>
        <p:nvSpPr>
          <p:cNvPr id="15" name="Text 13"/>
          <p:cNvSpPr/>
          <p:nvPr/>
        </p:nvSpPr>
        <p:spPr>
          <a:xfrm>
            <a:off x="686117" y="4992624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FLEET / VALIDATION — dashboard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6117" y="5285232"/>
            <a:ext cx="5257800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Batch questions across vehicles, CSV/PDF export, scenario replay for regression runs — same engine, same citations.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397" y="1920240"/>
            <a:ext cx="5330952" cy="1755648"/>
          </a:xfrm>
          <a:prstGeom prst="roundRect">
            <a:avLst>
              <a:gd name="adj" fmla="val 3646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989" y="2029968"/>
            <a:ext cx="50017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Anatomy of an answer card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83413" y="2304288"/>
            <a:ext cx="5074920" cy="128016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Claim (one sentence, plain language)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Evidence rows: signal · timestamp · value · delta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Trend chart + source chips; confidence and honesty labels ([Target], [Assumption])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55397" y="3803904"/>
            <a:ext cx="5330952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397" y="3803904"/>
            <a:ext cx="5330952" cy="54864"/>
          </a:xfrm>
          <a:prstGeom prst="rect">
            <a:avLst/>
          </a:prstGeom>
          <a:solidFill>
            <a:srgbClr val="C43D3D"/>
          </a:solidFill>
        </p:spPr>
      </p:sp>
      <p:sp>
        <p:nvSpPr>
          <p:cNvPr id="22" name="Text 20"/>
          <p:cNvSpPr/>
          <p:nvPr/>
        </p:nvSpPr>
        <p:spPr>
          <a:xfrm>
            <a:off x="6519989" y="3931920"/>
            <a:ext cx="50017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Safety boundary — non-negotiable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83413" y="4206240"/>
            <a:ext cx="5074920" cy="86868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Read-only taps: no CAN write, no actuator path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partition isolated by hypervisor + MMU; safety functions bypass the AI entirely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397" y="5248656"/>
            <a:ext cx="5330952" cy="115214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397" y="5248656"/>
            <a:ext cx="5330952" cy="54864"/>
          </a:xfrm>
          <a:prstGeom prst="rect">
            <a:avLst/>
          </a:prstGeom>
          <a:solidFill>
            <a:srgbClr val="12855F"/>
          </a:solidFill>
        </p:spPr>
      </p:sp>
      <p:sp>
        <p:nvSpPr>
          <p:cNvPr id="26" name="Text 24"/>
          <p:cNvSpPr/>
          <p:nvPr/>
        </p:nvSpPr>
        <p:spPr>
          <a:xfrm>
            <a:off x="6519989" y="5376672"/>
            <a:ext cx="50017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85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Privacy &amp; security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83413" y="5650992"/>
            <a:ext cx="5074920" cy="73152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Local-only processing: nothing leaves the vehicle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Role-based access, encrypted at rest, query audit log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3237" y="6528816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TELIPORT Season 4  |  Case Study 5 - Natural Language Vehicle Information (VehicleGPT)  |  Team: &lt;team name&gt;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81677" y="6528816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 / 10</a:t>
            </a:r>
            <a:endParaRPr lang="en-US" sz="900" dirty="0"/>
          </a:p>
        </p:txBody>
      </p:sp>
      <p:pic>
        <p:nvPicPr>
          <p:cNvPr id="9001" name="TELIPORT Logo"/>
          <p:cNvPicPr>
            <a:picLocks noChangeAspect="1"/>
          </p:cNvPicPr>
          <p:nvPr/>
        </p:nvPicPr>
        <p:blipFill>
          <a:blip r:embed="rId1" cstate="print"/>
          <a:srcRect t="33346" b="34336"/>
          <a:stretch>
            <a:fillRect/>
          </a:stretch>
        </p:blipFill>
        <p:spPr>
          <a:xfrm>
            <a:off x="317" y="14083"/>
            <a:ext cx="2361332" cy="763120"/>
          </a:xfrm>
          <a:prstGeom prst="rect">
            <a:avLst/>
          </a:prstGeom>
        </p:spPr>
      </p:pic>
      <p:pic>
        <p:nvPicPr>
          <p:cNvPr id="9002" name="TATA ELXSI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81658" y="89039"/>
            <a:ext cx="803547" cy="5673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237" y="84124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6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VALIDATION · ROADMAP ·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37" y="1097280"/>
            <a:ext cx="11183112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2A4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Targets we will measure — and the plan to hit them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3237" y="1755648"/>
            <a:ext cx="868680" cy="50292"/>
          </a:xfrm>
          <a:prstGeom prst="rect">
            <a:avLst/>
          </a:prstGeom>
          <a:solidFill>
            <a:srgbClr val="00A6E0"/>
          </a:solidFill>
        </p:spPr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03237" y="1874520"/>
          <a:ext cx="6675120" cy="2306955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3108960"/>
              </a:tblGrid>
              <a:tr h="3295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Metric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Target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How it is measured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Query latency (common)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&lt; 2 s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scripted 100-query set on the reference board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Fast-path lookup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&lt; 200 ms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indexed temporal lookup benchmark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Memory footprint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≤ 2 GB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cgroup telemetry during the query loop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Retrieval accuracy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≥ 90%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 ground-truth scenarios, golden answers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Answer factuality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100% validated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validator re-derives or flags every figure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History window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≥ 4 weeks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3C5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retention test over a synthetic 60-day log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3237" y="4297680"/>
            <a:ext cx="66751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3237" y="4297680"/>
            <a:ext cx="64008" cy="1005840"/>
          </a:xfrm>
          <a:prstGeom prst="rect">
            <a:avLst/>
          </a:prstGeom>
          <a:solidFill>
            <a:srgbClr val="FFC22B"/>
          </a:solidFill>
        </p:spPr>
      </p:sp>
      <p:sp>
        <p:nvSpPr>
          <p:cNvPr id="8" name="Text 5"/>
          <p:cNvSpPr/>
          <p:nvPr/>
        </p:nvSpPr>
        <p:spPr>
          <a:xfrm>
            <a:off x="686117" y="4370832"/>
            <a:ext cx="6400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Honesty labels used throughout:  </a:t>
            </a: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[Official] from the case brief  ·  [Design] our architecture choice  ·  [Assumption] declared input  ·  [Target] to be measured  ·  [Future] beyond this round.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3237" y="5431536"/>
            <a:ext cx="6675120" cy="969264"/>
          </a:xfrm>
          <a:prstGeom prst="roundRect">
            <a:avLst>
              <a:gd name="adj" fmla="val 6604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829" y="5486400"/>
            <a:ext cx="6400800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measured results are claimed yet. </a:t>
            </a:r>
            <a:r>
              <a:rPr lang="en-US" sz="100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 performance figure in this deck is a design target or a calculated estimate; the Round 2 prototype fills the table with real numbers.</a:t>
            </a:r>
            <a:endParaRPr lang="en-US" sz="1000" dirty="0"/>
          </a:p>
        </p:txBody>
      </p:sp>
      <p:sp>
        <p:nvSpPr>
          <p:cNvPr id="5" name="Shape 8"/>
          <p:cNvSpPr/>
          <p:nvPr/>
        </p:nvSpPr>
        <p:spPr>
          <a:xfrm>
            <a:off x="7452677" y="1874520"/>
            <a:ext cx="423367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52677" y="1874520"/>
            <a:ext cx="4233672" cy="54864"/>
          </a:xfrm>
          <a:prstGeom prst="rect">
            <a:avLst/>
          </a:prstGeom>
          <a:solidFill>
            <a:srgbClr val="00A6E0"/>
          </a:solidFill>
        </p:spPr>
      </p:sp>
      <p:sp>
        <p:nvSpPr>
          <p:cNvPr id="13" name="Text 10"/>
          <p:cNvSpPr/>
          <p:nvPr/>
        </p:nvSpPr>
        <p:spPr>
          <a:xfrm>
            <a:off x="7598981" y="2011680"/>
            <a:ext cx="39410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Roadmap to the Round 2 demo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62405" y="2286000"/>
            <a:ext cx="4014216" cy="178308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M1 · Sim rig: CARLA + vCAN + ingest pipeline</a:t>
            </a:r>
            <a:endParaRPr lang="en-US" sz="95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M2 · Tiered store, SQL/temporal/anomaly search</a:t>
            </a:r>
            <a:endParaRPr lang="en-US" sz="95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M3 · SLM integration + evidence validator</a:t>
            </a:r>
            <a:endParaRPr lang="en-US" sz="95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M4 · Head-unit HMI, 2 GB / 2 s tuning, benchmark run</a:t>
            </a:r>
            <a:endParaRPr lang="en-US" sz="95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Demo: Pi 5 + AI HAT answering the 5 brief questions live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452677" y="4297680"/>
            <a:ext cx="4233672" cy="1280160"/>
          </a:xfrm>
          <a:prstGeom prst="roundRect">
            <a:avLst>
              <a:gd name="adj" fmla="val 5000"/>
            </a:avLst>
          </a:prstGeom>
          <a:solidFill>
            <a:srgbClr val="F7FBFE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98981" y="4407408"/>
            <a:ext cx="39410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Innovation &amp; practicality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62405" y="4681728"/>
            <a:ext cx="4014216" cy="868680"/>
          </a:xfrm>
          <a:prstGeom prst="rect">
            <a:avLst/>
          </a:prstGeom>
          <a:noFill/>
        </p:spPr>
        <p:txBody>
          <a:bodyPr wrap="square" lIns="50800" tIns="101600" rIns="76200" bIns="50800" rtlCol="0" anchor="t"/>
          <a:lstStyle/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Works offline in yards, workshops and tunnels</a:t>
            </a:r>
            <a:endParaRPr lang="en-US" sz="950" dirty="0"/>
          </a:p>
          <a:p>
            <a:pPr marL="342900" indent="-342900" algn="l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OTA-swappable model; plug-in normaliser per new source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452677" y="5705856"/>
            <a:ext cx="4233672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98981" y="5705856"/>
            <a:ext cx="3941064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Value: </a:t>
            </a:r>
            <a:r>
              <a:rPr lang="en-US" sz="950" dirty="0">
                <a:solidFill>
                  <a:srgbClr val="1C3C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drivers get answers, engineers get evidence, fleets get trends, validation gets replay.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03237" y="6528816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TELIPORT Season 4  |  Case Study 5 - Natural Language Vehicle Information (VehicleGPT)  |  Team: &lt;team name&gt;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881677" y="6528816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/ 10</a:t>
            </a:r>
            <a:endParaRPr lang="en-US" sz="900" dirty="0"/>
          </a:p>
        </p:txBody>
      </p:sp>
      <p:pic>
        <p:nvPicPr>
          <p:cNvPr id="9001" name="TELIPORT Logo"/>
          <p:cNvPicPr>
            <a:picLocks noChangeAspect="1"/>
          </p:cNvPicPr>
          <p:nvPr/>
        </p:nvPicPr>
        <p:blipFill>
          <a:blip r:embed="rId1" cstate="print"/>
          <a:srcRect t="33346" b="34336"/>
          <a:stretch>
            <a:fillRect/>
          </a:stretch>
        </p:blipFill>
        <p:spPr>
          <a:xfrm>
            <a:off x="317" y="14083"/>
            <a:ext cx="2361332" cy="763120"/>
          </a:xfrm>
          <a:prstGeom prst="rect">
            <a:avLst/>
          </a:prstGeom>
        </p:spPr>
      </p:pic>
      <p:pic>
        <p:nvPicPr>
          <p:cNvPr id="9002" name="TATA ELXSI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81658" y="89039"/>
            <a:ext cx="803547" cy="5673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12864</Words>
  <Application>WPS Presentation</Application>
  <PresentationFormat>Widescreen</PresentationFormat>
  <Paragraphs>578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Arial</vt:lpstr>
      <vt:lpstr>Arial</vt:lpstr>
      <vt:lpstr>Calibri Light</vt:lpstr>
      <vt:lpstr>Calibri</vt:lpstr>
      <vt:lpstr>Office Theme</vt:lpstr>
      <vt:lpstr>Custom Design</vt:lpstr>
      <vt:lpstr>Team Details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Aaquib Jawaid</dc:creator>
  <cp:lastModifiedBy>Harsha Vardhan Malipeddi</cp:lastModifiedBy>
  <cp:revision>8</cp:revision>
  <dcterms:created xsi:type="dcterms:W3CDTF">2024-10-25T17:59:00Z</dcterms:created>
  <dcterms:modified xsi:type="dcterms:W3CDTF">2026-10-25T17:18:23Z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235A4B748B01448C876510EC46528111_12</vt:lpwstr>
  </property>
  <property fmtid="{D5CDD505-2E9C-101B-9397-08002B2CF9AE}" pid="3" name="KSOProductBuildVer">
    <vt:lpwstr>1033-12.1.0.29162</vt:lpwstr>
  </property>
</Properties>
</file>